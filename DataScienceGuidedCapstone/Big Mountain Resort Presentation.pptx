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notesMasterIdLst>
    <p:notesMasterId r:id="rId11"/>
  </p:notesMasterIdLst>
  <p:sldIdLst>
    <p:sldId id="256" r:id="rId2"/>
    <p:sldId id="257" r:id="rId3"/>
    <p:sldId id="259" r:id="rId4"/>
    <p:sldId id="264" r:id="rId5"/>
    <p:sldId id="265" r:id="rId6"/>
    <p:sldId id="262" r:id="rId7"/>
    <p:sldId id="266" r:id="rId8"/>
    <p:sldId id="267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4663"/>
  </p:normalViewPr>
  <p:slideViewPr>
    <p:cSldViewPr snapToGrid="0" snapToObjects="1">
      <p:cViewPr>
        <p:scale>
          <a:sx n="111" d="100"/>
          <a:sy n="111" d="100"/>
        </p:scale>
        <p:origin x="632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B4394DF-8D57-4756-9906-A2F3D68E8599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6128C50-0528-47FE-98FE-B2B52C09E563}">
      <dgm:prSet/>
      <dgm:spPr>
        <a:solidFill>
          <a:schemeClr val="accent5"/>
        </a:solidFill>
      </dgm:spPr>
      <dgm:t>
        <a:bodyPr/>
        <a:lstStyle/>
        <a:p>
          <a:r>
            <a:rPr lang="en-US" dirty="0"/>
            <a:t>1. Permanently shut down up to 10 of the least used runs</a:t>
          </a:r>
        </a:p>
      </dgm:t>
    </dgm:pt>
    <dgm:pt modelId="{A10E734B-4E2B-4C79-B068-618241239D51}" type="parTrans" cxnId="{4F24CF43-8CBB-4E59-8958-696A15B77079}">
      <dgm:prSet/>
      <dgm:spPr/>
      <dgm:t>
        <a:bodyPr/>
        <a:lstStyle/>
        <a:p>
          <a:endParaRPr lang="en-US"/>
        </a:p>
      </dgm:t>
    </dgm:pt>
    <dgm:pt modelId="{0BD22B1C-4C60-4780-A979-06912AC888A0}" type="sibTrans" cxnId="{4F24CF43-8CBB-4E59-8958-696A15B77079}">
      <dgm:prSet/>
      <dgm:spPr/>
      <dgm:t>
        <a:bodyPr/>
        <a:lstStyle/>
        <a:p>
          <a:endParaRPr lang="en-US"/>
        </a:p>
      </dgm:t>
    </dgm:pt>
    <dgm:pt modelId="{9787F158-BEB1-4801-B497-2C49298B16DE}">
      <dgm:prSet/>
      <dgm:spPr>
        <a:solidFill>
          <a:schemeClr val="accent4"/>
        </a:solidFill>
      </dgm:spPr>
      <dgm:t>
        <a:bodyPr/>
        <a:lstStyle/>
        <a:p>
          <a:r>
            <a:rPr lang="en-US" dirty="0"/>
            <a:t>2. Increase the vertical drop by adding a run to a point 150 feet lower down and installing of an additional chair lift to bring skiers back up</a:t>
          </a:r>
        </a:p>
      </dgm:t>
    </dgm:pt>
    <dgm:pt modelId="{3EB5A9EB-90C4-430E-908A-908C905F5E38}" type="parTrans" cxnId="{A70F333A-AF8F-47CC-8E6B-986B3284F41B}">
      <dgm:prSet/>
      <dgm:spPr/>
      <dgm:t>
        <a:bodyPr/>
        <a:lstStyle/>
        <a:p>
          <a:endParaRPr lang="en-US"/>
        </a:p>
      </dgm:t>
    </dgm:pt>
    <dgm:pt modelId="{00D4CCA4-A632-4494-8C9C-D4DCC1125D0E}" type="sibTrans" cxnId="{A70F333A-AF8F-47CC-8E6B-986B3284F41B}">
      <dgm:prSet/>
      <dgm:spPr/>
      <dgm:t>
        <a:bodyPr/>
        <a:lstStyle/>
        <a:p>
          <a:endParaRPr lang="en-US"/>
        </a:p>
      </dgm:t>
    </dgm:pt>
    <dgm:pt modelId="{66BC1330-F1AA-4A2B-8058-682BFF78D2FC}">
      <dgm:prSet/>
      <dgm:spPr>
        <a:solidFill>
          <a:schemeClr val="accent6"/>
        </a:solidFill>
      </dgm:spPr>
      <dgm:t>
        <a:bodyPr/>
        <a:lstStyle/>
        <a:p>
          <a:r>
            <a:rPr lang="en-US" dirty="0"/>
            <a:t>3. Same as #2, but add 2 more acres of snow making cover</a:t>
          </a:r>
        </a:p>
      </dgm:t>
    </dgm:pt>
    <dgm:pt modelId="{E3BFC4D6-1806-4893-A196-F2F056DF6AB7}" type="parTrans" cxnId="{EE2CA9B8-70D5-42D0-A794-A09CB6C246F7}">
      <dgm:prSet/>
      <dgm:spPr/>
      <dgm:t>
        <a:bodyPr/>
        <a:lstStyle/>
        <a:p>
          <a:endParaRPr lang="en-US"/>
        </a:p>
      </dgm:t>
    </dgm:pt>
    <dgm:pt modelId="{5DA1F3E4-DC73-4445-ADD0-9DB5AFE208A0}" type="sibTrans" cxnId="{EE2CA9B8-70D5-42D0-A794-A09CB6C246F7}">
      <dgm:prSet/>
      <dgm:spPr/>
      <dgm:t>
        <a:bodyPr/>
        <a:lstStyle/>
        <a:p>
          <a:endParaRPr lang="en-US"/>
        </a:p>
      </dgm:t>
    </dgm:pt>
    <dgm:pt modelId="{395A6931-02B4-4F5B-A5B3-DB6D4078571E}">
      <dgm:prSet/>
      <dgm:spPr>
        <a:solidFill>
          <a:schemeClr val="accent3"/>
        </a:solidFill>
      </dgm:spPr>
      <dgm:t>
        <a:bodyPr/>
        <a:lstStyle/>
        <a:p>
          <a:r>
            <a:rPr lang="en-US" dirty="0"/>
            <a:t>4. Increase the longest run by 0.2 mile with 4 acres of additional snow making cover</a:t>
          </a:r>
        </a:p>
      </dgm:t>
    </dgm:pt>
    <dgm:pt modelId="{3AD4C40F-4901-4BBC-B53B-AC70D1811B54}" type="parTrans" cxnId="{36D432A4-5837-4062-9AD3-9811B8655D85}">
      <dgm:prSet/>
      <dgm:spPr/>
      <dgm:t>
        <a:bodyPr/>
        <a:lstStyle/>
        <a:p>
          <a:endParaRPr lang="en-US"/>
        </a:p>
      </dgm:t>
    </dgm:pt>
    <dgm:pt modelId="{B3ACA1AE-6F57-46E7-945D-E93FFE06CDD3}" type="sibTrans" cxnId="{36D432A4-5837-4062-9AD3-9811B8655D85}">
      <dgm:prSet/>
      <dgm:spPr/>
      <dgm:t>
        <a:bodyPr/>
        <a:lstStyle/>
        <a:p>
          <a:endParaRPr lang="en-US"/>
        </a:p>
      </dgm:t>
    </dgm:pt>
    <dgm:pt modelId="{D240FF2F-0CE9-C344-A16C-7652BA88CFD7}" type="pres">
      <dgm:prSet presAssocID="{EB4394DF-8D57-4756-9906-A2F3D68E8599}" presName="linear" presStyleCnt="0">
        <dgm:presLayoutVars>
          <dgm:animLvl val="lvl"/>
          <dgm:resizeHandles val="exact"/>
        </dgm:presLayoutVars>
      </dgm:prSet>
      <dgm:spPr/>
    </dgm:pt>
    <dgm:pt modelId="{164BCB80-94C9-D644-88C2-141FD27E8287}" type="pres">
      <dgm:prSet presAssocID="{86128C50-0528-47FE-98FE-B2B52C09E56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3F19DD4-9040-9A47-8B15-F60C559C0CA2}" type="pres">
      <dgm:prSet presAssocID="{0BD22B1C-4C60-4780-A979-06912AC888A0}" presName="spacer" presStyleCnt="0"/>
      <dgm:spPr/>
    </dgm:pt>
    <dgm:pt modelId="{38C7A0D0-0382-474A-AF13-B9B59E8A49D8}" type="pres">
      <dgm:prSet presAssocID="{9787F158-BEB1-4801-B497-2C49298B16D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D74E53E-AE3A-5E43-9334-07C118A4F327}" type="pres">
      <dgm:prSet presAssocID="{00D4CCA4-A632-4494-8C9C-D4DCC1125D0E}" presName="spacer" presStyleCnt="0"/>
      <dgm:spPr/>
    </dgm:pt>
    <dgm:pt modelId="{53BD3D82-2661-5840-A4BA-792BC81C5FD4}" type="pres">
      <dgm:prSet presAssocID="{66BC1330-F1AA-4A2B-8058-682BFF78D2F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848CE87-6766-F94C-92CE-947133F0057F}" type="pres">
      <dgm:prSet presAssocID="{5DA1F3E4-DC73-4445-ADD0-9DB5AFE208A0}" presName="spacer" presStyleCnt="0"/>
      <dgm:spPr/>
    </dgm:pt>
    <dgm:pt modelId="{06A26350-D9FE-BF47-8E74-77756D394C6A}" type="pres">
      <dgm:prSet presAssocID="{395A6931-02B4-4F5B-A5B3-DB6D4078571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1D2E7D27-2932-5F4A-8A3A-A7E2BCD39EB1}" type="presOf" srcId="{86128C50-0528-47FE-98FE-B2B52C09E563}" destId="{164BCB80-94C9-D644-88C2-141FD27E8287}" srcOrd="0" destOrd="0" presId="urn:microsoft.com/office/officeart/2005/8/layout/vList2"/>
    <dgm:cxn modelId="{A70F333A-AF8F-47CC-8E6B-986B3284F41B}" srcId="{EB4394DF-8D57-4756-9906-A2F3D68E8599}" destId="{9787F158-BEB1-4801-B497-2C49298B16DE}" srcOrd="1" destOrd="0" parTransId="{3EB5A9EB-90C4-430E-908A-908C905F5E38}" sibTransId="{00D4CCA4-A632-4494-8C9C-D4DCC1125D0E}"/>
    <dgm:cxn modelId="{73A9CC40-2991-7B45-9EC4-BD7B1D827A75}" type="presOf" srcId="{395A6931-02B4-4F5B-A5B3-DB6D4078571E}" destId="{06A26350-D9FE-BF47-8E74-77756D394C6A}" srcOrd="0" destOrd="0" presId="urn:microsoft.com/office/officeart/2005/8/layout/vList2"/>
    <dgm:cxn modelId="{4F24CF43-8CBB-4E59-8958-696A15B77079}" srcId="{EB4394DF-8D57-4756-9906-A2F3D68E8599}" destId="{86128C50-0528-47FE-98FE-B2B52C09E563}" srcOrd="0" destOrd="0" parTransId="{A10E734B-4E2B-4C79-B068-618241239D51}" sibTransId="{0BD22B1C-4C60-4780-A979-06912AC888A0}"/>
    <dgm:cxn modelId="{3A83DC66-7B60-C747-81DE-483A1F815A4C}" type="presOf" srcId="{66BC1330-F1AA-4A2B-8058-682BFF78D2FC}" destId="{53BD3D82-2661-5840-A4BA-792BC81C5FD4}" srcOrd="0" destOrd="0" presId="urn:microsoft.com/office/officeart/2005/8/layout/vList2"/>
    <dgm:cxn modelId="{0BB1856C-A76C-CF40-8F34-C4E5F6C3578F}" type="presOf" srcId="{EB4394DF-8D57-4756-9906-A2F3D68E8599}" destId="{D240FF2F-0CE9-C344-A16C-7652BA88CFD7}" srcOrd="0" destOrd="0" presId="urn:microsoft.com/office/officeart/2005/8/layout/vList2"/>
    <dgm:cxn modelId="{395ECB70-9DBC-E347-B9A9-A2F8E25BD4B5}" type="presOf" srcId="{9787F158-BEB1-4801-B497-2C49298B16DE}" destId="{38C7A0D0-0382-474A-AF13-B9B59E8A49D8}" srcOrd="0" destOrd="0" presId="urn:microsoft.com/office/officeart/2005/8/layout/vList2"/>
    <dgm:cxn modelId="{36D432A4-5837-4062-9AD3-9811B8655D85}" srcId="{EB4394DF-8D57-4756-9906-A2F3D68E8599}" destId="{395A6931-02B4-4F5B-A5B3-DB6D4078571E}" srcOrd="3" destOrd="0" parTransId="{3AD4C40F-4901-4BBC-B53B-AC70D1811B54}" sibTransId="{B3ACA1AE-6F57-46E7-945D-E93FFE06CDD3}"/>
    <dgm:cxn modelId="{EE2CA9B8-70D5-42D0-A794-A09CB6C246F7}" srcId="{EB4394DF-8D57-4756-9906-A2F3D68E8599}" destId="{66BC1330-F1AA-4A2B-8058-682BFF78D2FC}" srcOrd="2" destOrd="0" parTransId="{E3BFC4D6-1806-4893-A196-F2F056DF6AB7}" sibTransId="{5DA1F3E4-DC73-4445-ADD0-9DB5AFE208A0}"/>
    <dgm:cxn modelId="{5E954C31-D7B4-1748-A008-701836496394}" type="presParOf" srcId="{D240FF2F-0CE9-C344-A16C-7652BA88CFD7}" destId="{164BCB80-94C9-D644-88C2-141FD27E8287}" srcOrd="0" destOrd="0" presId="urn:microsoft.com/office/officeart/2005/8/layout/vList2"/>
    <dgm:cxn modelId="{35EEBC44-C926-8844-A7D9-93BFEF261A4B}" type="presParOf" srcId="{D240FF2F-0CE9-C344-A16C-7652BA88CFD7}" destId="{23F19DD4-9040-9A47-8B15-F60C559C0CA2}" srcOrd="1" destOrd="0" presId="urn:microsoft.com/office/officeart/2005/8/layout/vList2"/>
    <dgm:cxn modelId="{DB8E5982-149E-AB4C-BBCB-840ECB9B5960}" type="presParOf" srcId="{D240FF2F-0CE9-C344-A16C-7652BA88CFD7}" destId="{38C7A0D0-0382-474A-AF13-B9B59E8A49D8}" srcOrd="2" destOrd="0" presId="urn:microsoft.com/office/officeart/2005/8/layout/vList2"/>
    <dgm:cxn modelId="{B7F224E4-301C-8841-971F-C6EEA27C3752}" type="presParOf" srcId="{D240FF2F-0CE9-C344-A16C-7652BA88CFD7}" destId="{ED74E53E-AE3A-5E43-9334-07C118A4F327}" srcOrd="3" destOrd="0" presId="urn:microsoft.com/office/officeart/2005/8/layout/vList2"/>
    <dgm:cxn modelId="{B794E59A-BB3B-9B4F-98BB-03CCD33A3F77}" type="presParOf" srcId="{D240FF2F-0CE9-C344-A16C-7652BA88CFD7}" destId="{53BD3D82-2661-5840-A4BA-792BC81C5FD4}" srcOrd="4" destOrd="0" presId="urn:microsoft.com/office/officeart/2005/8/layout/vList2"/>
    <dgm:cxn modelId="{1241A367-0D0A-CC42-9CB1-A6889468B0E4}" type="presParOf" srcId="{D240FF2F-0CE9-C344-A16C-7652BA88CFD7}" destId="{A848CE87-6766-F94C-92CE-947133F0057F}" srcOrd="5" destOrd="0" presId="urn:microsoft.com/office/officeart/2005/8/layout/vList2"/>
    <dgm:cxn modelId="{DE7D21E6-D805-A345-B183-5582C840790A}" type="presParOf" srcId="{D240FF2F-0CE9-C344-A16C-7652BA88CFD7}" destId="{06A26350-D9FE-BF47-8E74-77756D394C6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B4394DF-8D57-4756-9906-A2F3D68E8599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6128C50-0528-47FE-98FE-B2B52C09E563}">
      <dgm:prSet/>
      <dgm:spPr>
        <a:solidFill>
          <a:schemeClr val="accent5">
            <a:alpha val="10000"/>
          </a:schemeClr>
        </a:solidFill>
      </dgm:spPr>
      <dgm:t>
        <a:bodyPr/>
        <a:lstStyle/>
        <a:p>
          <a:r>
            <a:rPr lang="en-US" dirty="0"/>
            <a:t>1. Permanently shut down up to 10 of the least used runs</a:t>
          </a:r>
        </a:p>
      </dgm:t>
    </dgm:pt>
    <dgm:pt modelId="{A10E734B-4E2B-4C79-B068-618241239D51}" type="parTrans" cxnId="{4F24CF43-8CBB-4E59-8958-696A15B77079}">
      <dgm:prSet/>
      <dgm:spPr/>
      <dgm:t>
        <a:bodyPr/>
        <a:lstStyle/>
        <a:p>
          <a:endParaRPr lang="en-US"/>
        </a:p>
      </dgm:t>
    </dgm:pt>
    <dgm:pt modelId="{0BD22B1C-4C60-4780-A979-06912AC888A0}" type="sibTrans" cxnId="{4F24CF43-8CBB-4E59-8958-696A15B77079}">
      <dgm:prSet/>
      <dgm:spPr/>
      <dgm:t>
        <a:bodyPr/>
        <a:lstStyle/>
        <a:p>
          <a:endParaRPr lang="en-US"/>
        </a:p>
      </dgm:t>
    </dgm:pt>
    <dgm:pt modelId="{9787F158-BEB1-4801-B497-2C49298B16DE}">
      <dgm:prSet/>
      <dgm:spPr>
        <a:solidFill>
          <a:schemeClr val="accent4"/>
        </a:solidFill>
      </dgm:spPr>
      <dgm:t>
        <a:bodyPr/>
        <a:lstStyle/>
        <a:p>
          <a:r>
            <a:rPr lang="en-US" dirty="0"/>
            <a:t>2. Increase the vertical drop by adding a run to a point 150 feet lower down and installing of an additional chair lift to bring skiers back up</a:t>
          </a:r>
        </a:p>
      </dgm:t>
    </dgm:pt>
    <dgm:pt modelId="{3EB5A9EB-90C4-430E-908A-908C905F5E38}" type="parTrans" cxnId="{A70F333A-AF8F-47CC-8E6B-986B3284F41B}">
      <dgm:prSet/>
      <dgm:spPr/>
      <dgm:t>
        <a:bodyPr/>
        <a:lstStyle/>
        <a:p>
          <a:endParaRPr lang="en-US"/>
        </a:p>
      </dgm:t>
    </dgm:pt>
    <dgm:pt modelId="{00D4CCA4-A632-4494-8C9C-D4DCC1125D0E}" type="sibTrans" cxnId="{A70F333A-AF8F-47CC-8E6B-986B3284F41B}">
      <dgm:prSet/>
      <dgm:spPr/>
      <dgm:t>
        <a:bodyPr/>
        <a:lstStyle/>
        <a:p>
          <a:endParaRPr lang="en-US"/>
        </a:p>
      </dgm:t>
    </dgm:pt>
    <dgm:pt modelId="{66BC1330-F1AA-4A2B-8058-682BFF78D2FC}">
      <dgm:prSet/>
      <dgm:spPr>
        <a:solidFill>
          <a:schemeClr val="accent6">
            <a:alpha val="10000"/>
          </a:schemeClr>
        </a:solidFill>
      </dgm:spPr>
      <dgm:t>
        <a:bodyPr/>
        <a:lstStyle/>
        <a:p>
          <a:r>
            <a:rPr lang="en-US" dirty="0"/>
            <a:t>3. Same as #2, but add 2 more acres of snow making cover</a:t>
          </a:r>
        </a:p>
      </dgm:t>
    </dgm:pt>
    <dgm:pt modelId="{E3BFC4D6-1806-4893-A196-F2F056DF6AB7}" type="parTrans" cxnId="{EE2CA9B8-70D5-42D0-A794-A09CB6C246F7}">
      <dgm:prSet/>
      <dgm:spPr/>
      <dgm:t>
        <a:bodyPr/>
        <a:lstStyle/>
        <a:p>
          <a:endParaRPr lang="en-US"/>
        </a:p>
      </dgm:t>
    </dgm:pt>
    <dgm:pt modelId="{5DA1F3E4-DC73-4445-ADD0-9DB5AFE208A0}" type="sibTrans" cxnId="{EE2CA9B8-70D5-42D0-A794-A09CB6C246F7}">
      <dgm:prSet/>
      <dgm:spPr/>
      <dgm:t>
        <a:bodyPr/>
        <a:lstStyle/>
        <a:p>
          <a:endParaRPr lang="en-US"/>
        </a:p>
      </dgm:t>
    </dgm:pt>
    <dgm:pt modelId="{395A6931-02B4-4F5B-A5B3-DB6D4078571E}">
      <dgm:prSet/>
      <dgm:spPr>
        <a:solidFill>
          <a:schemeClr val="accent3">
            <a:alpha val="10000"/>
          </a:schemeClr>
        </a:solidFill>
      </dgm:spPr>
      <dgm:t>
        <a:bodyPr/>
        <a:lstStyle/>
        <a:p>
          <a:r>
            <a:rPr lang="en-US" dirty="0"/>
            <a:t>4. Increase the longest run by 0.2 mile with 4 acres of additional snow making cover</a:t>
          </a:r>
        </a:p>
      </dgm:t>
    </dgm:pt>
    <dgm:pt modelId="{3AD4C40F-4901-4BBC-B53B-AC70D1811B54}" type="parTrans" cxnId="{36D432A4-5837-4062-9AD3-9811B8655D85}">
      <dgm:prSet/>
      <dgm:spPr/>
      <dgm:t>
        <a:bodyPr/>
        <a:lstStyle/>
        <a:p>
          <a:endParaRPr lang="en-US"/>
        </a:p>
      </dgm:t>
    </dgm:pt>
    <dgm:pt modelId="{B3ACA1AE-6F57-46E7-945D-E93FFE06CDD3}" type="sibTrans" cxnId="{36D432A4-5837-4062-9AD3-9811B8655D85}">
      <dgm:prSet/>
      <dgm:spPr/>
      <dgm:t>
        <a:bodyPr/>
        <a:lstStyle/>
        <a:p>
          <a:endParaRPr lang="en-US"/>
        </a:p>
      </dgm:t>
    </dgm:pt>
    <dgm:pt modelId="{D240FF2F-0CE9-C344-A16C-7652BA88CFD7}" type="pres">
      <dgm:prSet presAssocID="{EB4394DF-8D57-4756-9906-A2F3D68E8599}" presName="linear" presStyleCnt="0">
        <dgm:presLayoutVars>
          <dgm:animLvl val="lvl"/>
          <dgm:resizeHandles val="exact"/>
        </dgm:presLayoutVars>
      </dgm:prSet>
      <dgm:spPr/>
    </dgm:pt>
    <dgm:pt modelId="{164BCB80-94C9-D644-88C2-141FD27E8287}" type="pres">
      <dgm:prSet presAssocID="{86128C50-0528-47FE-98FE-B2B52C09E56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3F19DD4-9040-9A47-8B15-F60C559C0CA2}" type="pres">
      <dgm:prSet presAssocID="{0BD22B1C-4C60-4780-A979-06912AC888A0}" presName="spacer" presStyleCnt="0"/>
      <dgm:spPr/>
    </dgm:pt>
    <dgm:pt modelId="{38C7A0D0-0382-474A-AF13-B9B59E8A49D8}" type="pres">
      <dgm:prSet presAssocID="{9787F158-BEB1-4801-B497-2C49298B16D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D74E53E-AE3A-5E43-9334-07C118A4F327}" type="pres">
      <dgm:prSet presAssocID="{00D4CCA4-A632-4494-8C9C-D4DCC1125D0E}" presName="spacer" presStyleCnt="0"/>
      <dgm:spPr/>
    </dgm:pt>
    <dgm:pt modelId="{53BD3D82-2661-5840-A4BA-792BC81C5FD4}" type="pres">
      <dgm:prSet presAssocID="{66BC1330-F1AA-4A2B-8058-682BFF78D2F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848CE87-6766-F94C-92CE-947133F0057F}" type="pres">
      <dgm:prSet presAssocID="{5DA1F3E4-DC73-4445-ADD0-9DB5AFE208A0}" presName="spacer" presStyleCnt="0"/>
      <dgm:spPr/>
    </dgm:pt>
    <dgm:pt modelId="{06A26350-D9FE-BF47-8E74-77756D394C6A}" type="pres">
      <dgm:prSet presAssocID="{395A6931-02B4-4F5B-A5B3-DB6D4078571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1D2E7D27-2932-5F4A-8A3A-A7E2BCD39EB1}" type="presOf" srcId="{86128C50-0528-47FE-98FE-B2B52C09E563}" destId="{164BCB80-94C9-D644-88C2-141FD27E8287}" srcOrd="0" destOrd="0" presId="urn:microsoft.com/office/officeart/2005/8/layout/vList2"/>
    <dgm:cxn modelId="{A70F333A-AF8F-47CC-8E6B-986B3284F41B}" srcId="{EB4394DF-8D57-4756-9906-A2F3D68E8599}" destId="{9787F158-BEB1-4801-B497-2C49298B16DE}" srcOrd="1" destOrd="0" parTransId="{3EB5A9EB-90C4-430E-908A-908C905F5E38}" sibTransId="{00D4CCA4-A632-4494-8C9C-D4DCC1125D0E}"/>
    <dgm:cxn modelId="{73A9CC40-2991-7B45-9EC4-BD7B1D827A75}" type="presOf" srcId="{395A6931-02B4-4F5B-A5B3-DB6D4078571E}" destId="{06A26350-D9FE-BF47-8E74-77756D394C6A}" srcOrd="0" destOrd="0" presId="urn:microsoft.com/office/officeart/2005/8/layout/vList2"/>
    <dgm:cxn modelId="{4F24CF43-8CBB-4E59-8958-696A15B77079}" srcId="{EB4394DF-8D57-4756-9906-A2F3D68E8599}" destId="{86128C50-0528-47FE-98FE-B2B52C09E563}" srcOrd="0" destOrd="0" parTransId="{A10E734B-4E2B-4C79-B068-618241239D51}" sibTransId="{0BD22B1C-4C60-4780-A979-06912AC888A0}"/>
    <dgm:cxn modelId="{3A83DC66-7B60-C747-81DE-483A1F815A4C}" type="presOf" srcId="{66BC1330-F1AA-4A2B-8058-682BFF78D2FC}" destId="{53BD3D82-2661-5840-A4BA-792BC81C5FD4}" srcOrd="0" destOrd="0" presId="urn:microsoft.com/office/officeart/2005/8/layout/vList2"/>
    <dgm:cxn modelId="{0BB1856C-A76C-CF40-8F34-C4E5F6C3578F}" type="presOf" srcId="{EB4394DF-8D57-4756-9906-A2F3D68E8599}" destId="{D240FF2F-0CE9-C344-A16C-7652BA88CFD7}" srcOrd="0" destOrd="0" presId="urn:microsoft.com/office/officeart/2005/8/layout/vList2"/>
    <dgm:cxn modelId="{395ECB70-9DBC-E347-B9A9-A2F8E25BD4B5}" type="presOf" srcId="{9787F158-BEB1-4801-B497-2C49298B16DE}" destId="{38C7A0D0-0382-474A-AF13-B9B59E8A49D8}" srcOrd="0" destOrd="0" presId="urn:microsoft.com/office/officeart/2005/8/layout/vList2"/>
    <dgm:cxn modelId="{36D432A4-5837-4062-9AD3-9811B8655D85}" srcId="{EB4394DF-8D57-4756-9906-A2F3D68E8599}" destId="{395A6931-02B4-4F5B-A5B3-DB6D4078571E}" srcOrd="3" destOrd="0" parTransId="{3AD4C40F-4901-4BBC-B53B-AC70D1811B54}" sibTransId="{B3ACA1AE-6F57-46E7-945D-E93FFE06CDD3}"/>
    <dgm:cxn modelId="{EE2CA9B8-70D5-42D0-A794-A09CB6C246F7}" srcId="{EB4394DF-8D57-4756-9906-A2F3D68E8599}" destId="{66BC1330-F1AA-4A2B-8058-682BFF78D2FC}" srcOrd="2" destOrd="0" parTransId="{E3BFC4D6-1806-4893-A196-F2F056DF6AB7}" sibTransId="{5DA1F3E4-DC73-4445-ADD0-9DB5AFE208A0}"/>
    <dgm:cxn modelId="{5E954C31-D7B4-1748-A008-701836496394}" type="presParOf" srcId="{D240FF2F-0CE9-C344-A16C-7652BA88CFD7}" destId="{164BCB80-94C9-D644-88C2-141FD27E8287}" srcOrd="0" destOrd="0" presId="urn:microsoft.com/office/officeart/2005/8/layout/vList2"/>
    <dgm:cxn modelId="{35EEBC44-C926-8844-A7D9-93BFEF261A4B}" type="presParOf" srcId="{D240FF2F-0CE9-C344-A16C-7652BA88CFD7}" destId="{23F19DD4-9040-9A47-8B15-F60C559C0CA2}" srcOrd="1" destOrd="0" presId="urn:microsoft.com/office/officeart/2005/8/layout/vList2"/>
    <dgm:cxn modelId="{DB8E5982-149E-AB4C-BBCB-840ECB9B5960}" type="presParOf" srcId="{D240FF2F-0CE9-C344-A16C-7652BA88CFD7}" destId="{38C7A0D0-0382-474A-AF13-B9B59E8A49D8}" srcOrd="2" destOrd="0" presId="urn:microsoft.com/office/officeart/2005/8/layout/vList2"/>
    <dgm:cxn modelId="{B7F224E4-301C-8841-971F-C6EEA27C3752}" type="presParOf" srcId="{D240FF2F-0CE9-C344-A16C-7652BA88CFD7}" destId="{ED74E53E-AE3A-5E43-9334-07C118A4F327}" srcOrd="3" destOrd="0" presId="urn:microsoft.com/office/officeart/2005/8/layout/vList2"/>
    <dgm:cxn modelId="{B794E59A-BB3B-9B4F-98BB-03CCD33A3F77}" type="presParOf" srcId="{D240FF2F-0CE9-C344-A16C-7652BA88CFD7}" destId="{53BD3D82-2661-5840-A4BA-792BC81C5FD4}" srcOrd="4" destOrd="0" presId="urn:microsoft.com/office/officeart/2005/8/layout/vList2"/>
    <dgm:cxn modelId="{1241A367-0D0A-CC42-9CB1-A6889468B0E4}" type="presParOf" srcId="{D240FF2F-0CE9-C344-A16C-7652BA88CFD7}" destId="{A848CE87-6766-F94C-92CE-947133F0057F}" srcOrd="5" destOrd="0" presId="urn:microsoft.com/office/officeart/2005/8/layout/vList2"/>
    <dgm:cxn modelId="{DE7D21E6-D805-A345-B183-5582C840790A}" type="presParOf" srcId="{D240FF2F-0CE9-C344-A16C-7652BA88CFD7}" destId="{06A26350-D9FE-BF47-8E74-77756D394C6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B4394DF-8D57-4756-9906-A2F3D68E8599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6128C50-0528-47FE-98FE-B2B52C09E563}">
      <dgm:prSet/>
      <dgm:spPr>
        <a:solidFill>
          <a:schemeClr val="accent5"/>
        </a:solidFill>
      </dgm:spPr>
      <dgm:t>
        <a:bodyPr/>
        <a:lstStyle/>
        <a:p>
          <a:r>
            <a:rPr lang="en-US" dirty="0"/>
            <a:t>1. No change in ticket price for closing down 1 trail, save up to $1.54 million in operating costs</a:t>
          </a:r>
        </a:p>
      </dgm:t>
    </dgm:pt>
    <dgm:pt modelId="{A10E734B-4E2B-4C79-B068-618241239D51}" type="parTrans" cxnId="{4F24CF43-8CBB-4E59-8958-696A15B77079}">
      <dgm:prSet/>
      <dgm:spPr/>
      <dgm:t>
        <a:bodyPr/>
        <a:lstStyle/>
        <a:p>
          <a:endParaRPr lang="en-US"/>
        </a:p>
      </dgm:t>
    </dgm:pt>
    <dgm:pt modelId="{0BD22B1C-4C60-4780-A979-06912AC888A0}" type="sibTrans" cxnId="{4F24CF43-8CBB-4E59-8958-696A15B77079}">
      <dgm:prSet/>
      <dgm:spPr/>
      <dgm:t>
        <a:bodyPr/>
        <a:lstStyle/>
        <a:p>
          <a:endParaRPr lang="en-US"/>
        </a:p>
      </dgm:t>
    </dgm:pt>
    <dgm:pt modelId="{9787F158-BEB1-4801-B497-2C49298B16DE}">
      <dgm:prSet/>
      <dgm:spPr>
        <a:solidFill>
          <a:schemeClr val="accent4"/>
        </a:solidFill>
      </dgm:spPr>
      <dgm:t>
        <a:bodyPr/>
        <a:lstStyle/>
        <a:p>
          <a:r>
            <a:rPr lang="en-US" dirty="0"/>
            <a:t>2. $1.99 increase in ticket price for new trail and lift, ~$2 million in profit ($3.47 million in added revenue, up to $1.54 million in operating costs for new lift)</a:t>
          </a:r>
        </a:p>
      </dgm:t>
    </dgm:pt>
    <dgm:pt modelId="{3EB5A9EB-90C4-430E-908A-908C905F5E38}" type="parTrans" cxnId="{A70F333A-AF8F-47CC-8E6B-986B3284F41B}">
      <dgm:prSet/>
      <dgm:spPr/>
      <dgm:t>
        <a:bodyPr/>
        <a:lstStyle/>
        <a:p>
          <a:endParaRPr lang="en-US"/>
        </a:p>
      </dgm:t>
    </dgm:pt>
    <dgm:pt modelId="{00D4CCA4-A632-4494-8C9C-D4DCC1125D0E}" type="sibTrans" cxnId="{A70F333A-AF8F-47CC-8E6B-986B3284F41B}">
      <dgm:prSet/>
      <dgm:spPr/>
      <dgm:t>
        <a:bodyPr/>
        <a:lstStyle/>
        <a:p>
          <a:endParaRPr lang="en-US"/>
        </a:p>
      </dgm:t>
    </dgm:pt>
    <dgm:pt modelId="{66BC1330-F1AA-4A2B-8058-682BFF78D2FC}">
      <dgm:prSet/>
      <dgm:spPr>
        <a:solidFill>
          <a:schemeClr val="accent6"/>
        </a:solidFill>
      </dgm:spPr>
      <dgm:t>
        <a:bodyPr/>
        <a:lstStyle/>
        <a:p>
          <a:r>
            <a:rPr lang="en-US" dirty="0"/>
            <a:t>3. Same as #2, but with additional costs for the 2 extra acre of snow making cover</a:t>
          </a:r>
        </a:p>
      </dgm:t>
    </dgm:pt>
    <dgm:pt modelId="{E3BFC4D6-1806-4893-A196-F2F056DF6AB7}" type="parTrans" cxnId="{EE2CA9B8-70D5-42D0-A794-A09CB6C246F7}">
      <dgm:prSet/>
      <dgm:spPr/>
      <dgm:t>
        <a:bodyPr/>
        <a:lstStyle/>
        <a:p>
          <a:endParaRPr lang="en-US"/>
        </a:p>
      </dgm:t>
    </dgm:pt>
    <dgm:pt modelId="{5DA1F3E4-DC73-4445-ADD0-9DB5AFE208A0}" type="sibTrans" cxnId="{EE2CA9B8-70D5-42D0-A794-A09CB6C246F7}">
      <dgm:prSet/>
      <dgm:spPr/>
      <dgm:t>
        <a:bodyPr/>
        <a:lstStyle/>
        <a:p>
          <a:endParaRPr lang="en-US"/>
        </a:p>
      </dgm:t>
    </dgm:pt>
    <dgm:pt modelId="{395A6931-02B4-4F5B-A5B3-DB6D4078571E}">
      <dgm:prSet/>
      <dgm:spPr>
        <a:solidFill>
          <a:schemeClr val="accent3"/>
        </a:solidFill>
      </dgm:spPr>
      <dgm:t>
        <a:bodyPr/>
        <a:lstStyle/>
        <a:p>
          <a:r>
            <a:rPr lang="en-US" dirty="0"/>
            <a:t>4. No change in ticket price for the expanded features, added additional cost for additional snow making cover</a:t>
          </a:r>
        </a:p>
      </dgm:t>
    </dgm:pt>
    <dgm:pt modelId="{3AD4C40F-4901-4BBC-B53B-AC70D1811B54}" type="parTrans" cxnId="{36D432A4-5837-4062-9AD3-9811B8655D85}">
      <dgm:prSet/>
      <dgm:spPr/>
      <dgm:t>
        <a:bodyPr/>
        <a:lstStyle/>
        <a:p>
          <a:endParaRPr lang="en-US"/>
        </a:p>
      </dgm:t>
    </dgm:pt>
    <dgm:pt modelId="{B3ACA1AE-6F57-46E7-945D-E93FFE06CDD3}" type="sibTrans" cxnId="{36D432A4-5837-4062-9AD3-9811B8655D85}">
      <dgm:prSet/>
      <dgm:spPr/>
      <dgm:t>
        <a:bodyPr/>
        <a:lstStyle/>
        <a:p>
          <a:endParaRPr lang="en-US"/>
        </a:p>
      </dgm:t>
    </dgm:pt>
    <dgm:pt modelId="{D240FF2F-0CE9-C344-A16C-7652BA88CFD7}" type="pres">
      <dgm:prSet presAssocID="{EB4394DF-8D57-4756-9906-A2F3D68E8599}" presName="linear" presStyleCnt="0">
        <dgm:presLayoutVars>
          <dgm:animLvl val="lvl"/>
          <dgm:resizeHandles val="exact"/>
        </dgm:presLayoutVars>
      </dgm:prSet>
      <dgm:spPr/>
    </dgm:pt>
    <dgm:pt modelId="{164BCB80-94C9-D644-88C2-141FD27E8287}" type="pres">
      <dgm:prSet presAssocID="{86128C50-0528-47FE-98FE-B2B52C09E56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3F19DD4-9040-9A47-8B15-F60C559C0CA2}" type="pres">
      <dgm:prSet presAssocID="{0BD22B1C-4C60-4780-A979-06912AC888A0}" presName="spacer" presStyleCnt="0"/>
      <dgm:spPr/>
    </dgm:pt>
    <dgm:pt modelId="{38C7A0D0-0382-474A-AF13-B9B59E8A49D8}" type="pres">
      <dgm:prSet presAssocID="{9787F158-BEB1-4801-B497-2C49298B16D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D74E53E-AE3A-5E43-9334-07C118A4F327}" type="pres">
      <dgm:prSet presAssocID="{00D4CCA4-A632-4494-8C9C-D4DCC1125D0E}" presName="spacer" presStyleCnt="0"/>
      <dgm:spPr/>
    </dgm:pt>
    <dgm:pt modelId="{53BD3D82-2661-5840-A4BA-792BC81C5FD4}" type="pres">
      <dgm:prSet presAssocID="{66BC1330-F1AA-4A2B-8058-682BFF78D2F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848CE87-6766-F94C-92CE-947133F0057F}" type="pres">
      <dgm:prSet presAssocID="{5DA1F3E4-DC73-4445-ADD0-9DB5AFE208A0}" presName="spacer" presStyleCnt="0"/>
      <dgm:spPr/>
    </dgm:pt>
    <dgm:pt modelId="{06A26350-D9FE-BF47-8E74-77756D394C6A}" type="pres">
      <dgm:prSet presAssocID="{395A6931-02B4-4F5B-A5B3-DB6D4078571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1D2E7D27-2932-5F4A-8A3A-A7E2BCD39EB1}" type="presOf" srcId="{86128C50-0528-47FE-98FE-B2B52C09E563}" destId="{164BCB80-94C9-D644-88C2-141FD27E8287}" srcOrd="0" destOrd="0" presId="urn:microsoft.com/office/officeart/2005/8/layout/vList2"/>
    <dgm:cxn modelId="{A70F333A-AF8F-47CC-8E6B-986B3284F41B}" srcId="{EB4394DF-8D57-4756-9906-A2F3D68E8599}" destId="{9787F158-BEB1-4801-B497-2C49298B16DE}" srcOrd="1" destOrd="0" parTransId="{3EB5A9EB-90C4-430E-908A-908C905F5E38}" sibTransId="{00D4CCA4-A632-4494-8C9C-D4DCC1125D0E}"/>
    <dgm:cxn modelId="{73A9CC40-2991-7B45-9EC4-BD7B1D827A75}" type="presOf" srcId="{395A6931-02B4-4F5B-A5B3-DB6D4078571E}" destId="{06A26350-D9FE-BF47-8E74-77756D394C6A}" srcOrd="0" destOrd="0" presId="urn:microsoft.com/office/officeart/2005/8/layout/vList2"/>
    <dgm:cxn modelId="{4F24CF43-8CBB-4E59-8958-696A15B77079}" srcId="{EB4394DF-8D57-4756-9906-A2F3D68E8599}" destId="{86128C50-0528-47FE-98FE-B2B52C09E563}" srcOrd="0" destOrd="0" parTransId="{A10E734B-4E2B-4C79-B068-618241239D51}" sibTransId="{0BD22B1C-4C60-4780-A979-06912AC888A0}"/>
    <dgm:cxn modelId="{3A83DC66-7B60-C747-81DE-483A1F815A4C}" type="presOf" srcId="{66BC1330-F1AA-4A2B-8058-682BFF78D2FC}" destId="{53BD3D82-2661-5840-A4BA-792BC81C5FD4}" srcOrd="0" destOrd="0" presId="urn:microsoft.com/office/officeart/2005/8/layout/vList2"/>
    <dgm:cxn modelId="{0BB1856C-A76C-CF40-8F34-C4E5F6C3578F}" type="presOf" srcId="{EB4394DF-8D57-4756-9906-A2F3D68E8599}" destId="{D240FF2F-0CE9-C344-A16C-7652BA88CFD7}" srcOrd="0" destOrd="0" presId="urn:microsoft.com/office/officeart/2005/8/layout/vList2"/>
    <dgm:cxn modelId="{395ECB70-9DBC-E347-B9A9-A2F8E25BD4B5}" type="presOf" srcId="{9787F158-BEB1-4801-B497-2C49298B16DE}" destId="{38C7A0D0-0382-474A-AF13-B9B59E8A49D8}" srcOrd="0" destOrd="0" presId="urn:microsoft.com/office/officeart/2005/8/layout/vList2"/>
    <dgm:cxn modelId="{36D432A4-5837-4062-9AD3-9811B8655D85}" srcId="{EB4394DF-8D57-4756-9906-A2F3D68E8599}" destId="{395A6931-02B4-4F5B-A5B3-DB6D4078571E}" srcOrd="3" destOrd="0" parTransId="{3AD4C40F-4901-4BBC-B53B-AC70D1811B54}" sibTransId="{B3ACA1AE-6F57-46E7-945D-E93FFE06CDD3}"/>
    <dgm:cxn modelId="{EE2CA9B8-70D5-42D0-A794-A09CB6C246F7}" srcId="{EB4394DF-8D57-4756-9906-A2F3D68E8599}" destId="{66BC1330-F1AA-4A2B-8058-682BFF78D2FC}" srcOrd="2" destOrd="0" parTransId="{E3BFC4D6-1806-4893-A196-F2F056DF6AB7}" sibTransId="{5DA1F3E4-DC73-4445-ADD0-9DB5AFE208A0}"/>
    <dgm:cxn modelId="{5E954C31-D7B4-1748-A008-701836496394}" type="presParOf" srcId="{D240FF2F-0CE9-C344-A16C-7652BA88CFD7}" destId="{164BCB80-94C9-D644-88C2-141FD27E8287}" srcOrd="0" destOrd="0" presId="urn:microsoft.com/office/officeart/2005/8/layout/vList2"/>
    <dgm:cxn modelId="{35EEBC44-C926-8844-A7D9-93BFEF261A4B}" type="presParOf" srcId="{D240FF2F-0CE9-C344-A16C-7652BA88CFD7}" destId="{23F19DD4-9040-9A47-8B15-F60C559C0CA2}" srcOrd="1" destOrd="0" presId="urn:microsoft.com/office/officeart/2005/8/layout/vList2"/>
    <dgm:cxn modelId="{DB8E5982-149E-AB4C-BBCB-840ECB9B5960}" type="presParOf" srcId="{D240FF2F-0CE9-C344-A16C-7652BA88CFD7}" destId="{38C7A0D0-0382-474A-AF13-B9B59E8A49D8}" srcOrd="2" destOrd="0" presId="urn:microsoft.com/office/officeart/2005/8/layout/vList2"/>
    <dgm:cxn modelId="{B7F224E4-301C-8841-971F-C6EEA27C3752}" type="presParOf" srcId="{D240FF2F-0CE9-C344-A16C-7652BA88CFD7}" destId="{ED74E53E-AE3A-5E43-9334-07C118A4F327}" srcOrd="3" destOrd="0" presId="urn:microsoft.com/office/officeart/2005/8/layout/vList2"/>
    <dgm:cxn modelId="{B794E59A-BB3B-9B4F-98BB-03CCD33A3F77}" type="presParOf" srcId="{D240FF2F-0CE9-C344-A16C-7652BA88CFD7}" destId="{53BD3D82-2661-5840-A4BA-792BC81C5FD4}" srcOrd="4" destOrd="0" presId="urn:microsoft.com/office/officeart/2005/8/layout/vList2"/>
    <dgm:cxn modelId="{1241A367-0D0A-CC42-9CB1-A6889468B0E4}" type="presParOf" srcId="{D240FF2F-0CE9-C344-A16C-7652BA88CFD7}" destId="{A848CE87-6766-F94C-92CE-947133F0057F}" srcOrd="5" destOrd="0" presId="urn:microsoft.com/office/officeart/2005/8/layout/vList2"/>
    <dgm:cxn modelId="{DE7D21E6-D805-A345-B183-5582C840790A}" type="presParOf" srcId="{D240FF2F-0CE9-C344-A16C-7652BA88CFD7}" destId="{06A26350-D9FE-BF47-8E74-77756D394C6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4BCB80-94C9-D644-88C2-141FD27E8287}">
      <dsp:nvSpPr>
        <dsp:cNvPr id="0" name=""/>
        <dsp:cNvSpPr/>
      </dsp:nvSpPr>
      <dsp:spPr>
        <a:xfrm>
          <a:off x="0" y="8148"/>
          <a:ext cx="7728267" cy="1220236"/>
        </a:xfrm>
        <a:prstGeom prst="roundRect">
          <a:avLst/>
        </a:prstGeom>
        <a:solidFill>
          <a:schemeClr val="accent5"/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1. Permanently shut down up to 10 of the least used runs</a:t>
          </a:r>
        </a:p>
      </dsp:txBody>
      <dsp:txXfrm>
        <a:off x="59567" y="67715"/>
        <a:ext cx="7609133" cy="1101102"/>
      </dsp:txXfrm>
    </dsp:sp>
    <dsp:sp modelId="{38C7A0D0-0382-474A-AF13-B9B59E8A49D8}">
      <dsp:nvSpPr>
        <dsp:cNvPr id="0" name=""/>
        <dsp:cNvSpPr/>
      </dsp:nvSpPr>
      <dsp:spPr>
        <a:xfrm>
          <a:off x="0" y="1291745"/>
          <a:ext cx="7728267" cy="1220236"/>
        </a:xfrm>
        <a:prstGeom prst="roundRect">
          <a:avLst/>
        </a:prstGeom>
        <a:solidFill>
          <a:schemeClr val="accent4"/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2. Increase the vertical drop by adding a run to a point 150 feet lower down and installing of an additional chair lift to bring skiers back up</a:t>
          </a:r>
        </a:p>
      </dsp:txBody>
      <dsp:txXfrm>
        <a:off x="59567" y="1351312"/>
        <a:ext cx="7609133" cy="1101102"/>
      </dsp:txXfrm>
    </dsp:sp>
    <dsp:sp modelId="{53BD3D82-2661-5840-A4BA-792BC81C5FD4}">
      <dsp:nvSpPr>
        <dsp:cNvPr id="0" name=""/>
        <dsp:cNvSpPr/>
      </dsp:nvSpPr>
      <dsp:spPr>
        <a:xfrm>
          <a:off x="0" y="2575342"/>
          <a:ext cx="7728267" cy="1220236"/>
        </a:xfrm>
        <a:prstGeom prst="roundRect">
          <a:avLst/>
        </a:prstGeom>
        <a:solidFill>
          <a:schemeClr val="accent6"/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3. Same as #2, but add 2 more acres of snow making cover</a:t>
          </a:r>
        </a:p>
      </dsp:txBody>
      <dsp:txXfrm>
        <a:off x="59567" y="2634909"/>
        <a:ext cx="7609133" cy="1101102"/>
      </dsp:txXfrm>
    </dsp:sp>
    <dsp:sp modelId="{06A26350-D9FE-BF47-8E74-77756D394C6A}">
      <dsp:nvSpPr>
        <dsp:cNvPr id="0" name=""/>
        <dsp:cNvSpPr/>
      </dsp:nvSpPr>
      <dsp:spPr>
        <a:xfrm>
          <a:off x="0" y="3858938"/>
          <a:ext cx="7728267" cy="1220236"/>
        </a:xfrm>
        <a:prstGeom prst="roundRect">
          <a:avLst/>
        </a:prstGeom>
        <a:solidFill>
          <a:schemeClr val="accent3"/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4. Increase the longest run by 0.2 mile with 4 acres of additional snow making cover</a:t>
          </a:r>
        </a:p>
      </dsp:txBody>
      <dsp:txXfrm>
        <a:off x="59567" y="3918505"/>
        <a:ext cx="7609133" cy="110110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4BCB80-94C9-D644-88C2-141FD27E8287}">
      <dsp:nvSpPr>
        <dsp:cNvPr id="0" name=""/>
        <dsp:cNvSpPr/>
      </dsp:nvSpPr>
      <dsp:spPr>
        <a:xfrm>
          <a:off x="0" y="8148"/>
          <a:ext cx="7728267" cy="1220236"/>
        </a:xfrm>
        <a:prstGeom prst="roundRect">
          <a:avLst/>
        </a:prstGeom>
        <a:solidFill>
          <a:schemeClr val="accent5">
            <a:alpha val="1000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1. Permanently shut down up to 10 of the least used runs</a:t>
          </a:r>
        </a:p>
      </dsp:txBody>
      <dsp:txXfrm>
        <a:off x="59567" y="67715"/>
        <a:ext cx="7609133" cy="1101102"/>
      </dsp:txXfrm>
    </dsp:sp>
    <dsp:sp modelId="{38C7A0D0-0382-474A-AF13-B9B59E8A49D8}">
      <dsp:nvSpPr>
        <dsp:cNvPr id="0" name=""/>
        <dsp:cNvSpPr/>
      </dsp:nvSpPr>
      <dsp:spPr>
        <a:xfrm>
          <a:off x="0" y="1291745"/>
          <a:ext cx="7728267" cy="1220236"/>
        </a:xfrm>
        <a:prstGeom prst="roundRect">
          <a:avLst/>
        </a:prstGeom>
        <a:solidFill>
          <a:schemeClr val="accent4"/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2. Increase the vertical drop by adding a run to a point 150 feet lower down and installing of an additional chair lift to bring skiers back up</a:t>
          </a:r>
        </a:p>
      </dsp:txBody>
      <dsp:txXfrm>
        <a:off x="59567" y="1351312"/>
        <a:ext cx="7609133" cy="1101102"/>
      </dsp:txXfrm>
    </dsp:sp>
    <dsp:sp modelId="{53BD3D82-2661-5840-A4BA-792BC81C5FD4}">
      <dsp:nvSpPr>
        <dsp:cNvPr id="0" name=""/>
        <dsp:cNvSpPr/>
      </dsp:nvSpPr>
      <dsp:spPr>
        <a:xfrm>
          <a:off x="0" y="2575342"/>
          <a:ext cx="7728267" cy="1220236"/>
        </a:xfrm>
        <a:prstGeom prst="roundRect">
          <a:avLst/>
        </a:prstGeom>
        <a:solidFill>
          <a:schemeClr val="accent6">
            <a:alpha val="1000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3. Same as #2, but add 2 more acres of snow making cover</a:t>
          </a:r>
        </a:p>
      </dsp:txBody>
      <dsp:txXfrm>
        <a:off x="59567" y="2634909"/>
        <a:ext cx="7609133" cy="1101102"/>
      </dsp:txXfrm>
    </dsp:sp>
    <dsp:sp modelId="{06A26350-D9FE-BF47-8E74-77756D394C6A}">
      <dsp:nvSpPr>
        <dsp:cNvPr id="0" name=""/>
        <dsp:cNvSpPr/>
      </dsp:nvSpPr>
      <dsp:spPr>
        <a:xfrm>
          <a:off x="0" y="3858938"/>
          <a:ext cx="7728267" cy="1220236"/>
        </a:xfrm>
        <a:prstGeom prst="roundRect">
          <a:avLst/>
        </a:prstGeom>
        <a:solidFill>
          <a:schemeClr val="accent3">
            <a:alpha val="1000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4. Increase the longest run by 0.2 mile with 4 acres of additional snow making cover</a:t>
          </a:r>
        </a:p>
      </dsp:txBody>
      <dsp:txXfrm>
        <a:off x="59567" y="3918505"/>
        <a:ext cx="7609133" cy="110110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4BCB80-94C9-D644-88C2-141FD27E8287}">
      <dsp:nvSpPr>
        <dsp:cNvPr id="0" name=""/>
        <dsp:cNvSpPr/>
      </dsp:nvSpPr>
      <dsp:spPr>
        <a:xfrm>
          <a:off x="0" y="103435"/>
          <a:ext cx="7728267" cy="1174753"/>
        </a:xfrm>
        <a:prstGeom prst="roundRect">
          <a:avLst/>
        </a:prstGeom>
        <a:solidFill>
          <a:schemeClr val="accent5"/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1. No change in ticket price for closing down 1 trail, save up to $1.54 million in operating costs</a:t>
          </a:r>
        </a:p>
      </dsp:txBody>
      <dsp:txXfrm>
        <a:off x="57347" y="160782"/>
        <a:ext cx="7613573" cy="1060059"/>
      </dsp:txXfrm>
    </dsp:sp>
    <dsp:sp modelId="{38C7A0D0-0382-474A-AF13-B9B59E8A49D8}">
      <dsp:nvSpPr>
        <dsp:cNvPr id="0" name=""/>
        <dsp:cNvSpPr/>
      </dsp:nvSpPr>
      <dsp:spPr>
        <a:xfrm>
          <a:off x="0" y="1338668"/>
          <a:ext cx="7728267" cy="1174753"/>
        </a:xfrm>
        <a:prstGeom prst="roundRect">
          <a:avLst/>
        </a:prstGeom>
        <a:solidFill>
          <a:schemeClr val="accent4"/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2. $1.99 increase in ticket price for new trail and lift, ~$2 million in profit ($3.47 million in added revenue, up to $1.54 million in operating costs for new lift)</a:t>
          </a:r>
        </a:p>
      </dsp:txBody>
      <dsp:txXfrm>
        <a:off x="57347" y="1396015"/>
        <a:ext cx="7613573" cy="1060059"/>
      </dsp:txXfrm>
    </dsp:sp>
    <dsp:sp modelId="{53BD3D82-2661-5840-A4BA-792BC81C5FD4}">
      <dsp:nvSpPr>
        <dsp:cNvPr id="0" name=""/>
        <dsp:cNvSpPr/>
      </dsp:nvSpPr>
      <dsp:spPr>
        <a:xfrm>
          <a:off x="0" y="2573901"/>
          <a:ext cx="7728267" cy="1174753"/>
        </a:xfrm>
        <a:prstGeom prst="roundRect">
          <a:avLst/>
        </a:prstGeom>
        <a:solidFill>
          <a:schemeClr val="accent6"/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3. Same as #2, but with additional costs for the 2 extra acre of snow making cover</a:t>
          </a:r>
        </a:p>
      </dsp:txBody>
      <dsp:txXfrm>
        <a:off x="57347" y="2631248"/>
        <a:ext cx="7613573" cy="1060059"/>
      </dsp:txXfrm>
    </dsp:sp>
    <dsp:sp modelId="{06A26350-D9FE-BF47-8E74-77756D394C6A}">
      <dsp:nvSpPr>
        <dsp:cNvPr id="0" name=""/>
        <dsp:cNvSpPr/>
      </dsp:nvSpPr>
      <dsp:spPr>
        <a:xfrm>
          <a:off x="0" y="3809135"/>
          <a:ext cx="7728267" cy="1174753"/>
        </a:xfrm>
        <a:prstGeom prst="roundRect">
          <a:avLst/>
        </a:prstGeom>
        <a:solidFill>
          <a:schemeClr val="accent3"/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4. No change in ticket price for the expanded features, added additional cost for additional snow making cover</a:t>
          </a:r>
        </a:p>
      </dsp:txBody>
      <dsp:txXfrm>
        <a:off x="57347" y="3866482"/>
        <a:ext cx="7613573" cy="106005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1E1F6D-219C-7041-8F27-8445141CFD6A}" type="datetimeFigureOut">
              <a:rPr lang="en-US" smtClean="0"/>
              <a:t>5/26/21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1C7E99-F917-2B4D-97A8-C3FB39A7B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2086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03D66-7569-4147-8A6F-87A748235435}" type="datetime1">
              <a:rPr lang="en-US" smtClean="0"/>
              <a:t>5/26/21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2B99D-9544-7A46-BDA0-636DAA60E132}" type="datetime1">
              <a:rPr lang="en-US" smtClean="0"/>
              <a:t>5/26/21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365EC-3AEA-F14C-9C7C-77A822EE42AB}" type="datetime1">
              <a:rPr lang="en-US" smtClean="0"/>
              <a:t>5/26/21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02601-80BE-6B49-A62E-803E8A226A8E}" type="datetime1">
              <a:rPr lang="en-US" smtClean="0"/>
              <a:t>5/26/21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4021F-FFF9-8E4C-848B-B2247DA93547}" type="datetime1">
              <a:rPr lang="en-US" smtClean="0"/>
              <a:t>5/26/21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EA118-9FCD-5144-8C4C-ADB5FF67AA9F}" type="datetime1">
              <a:rPr lang="en-US" smtClean="0"/>
              <a:t>5/26/21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A9806-84C3-7542-A3E0-B3C06AAB35BB}" type="datetime1">
              <a:rPr lang="en-US" smtClean="0"/>
              <a:t>5/26/21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CD1E0-1CF0-834D-B4DA-B78674BF1C24}" type="datetime1">
              <a:rPr lang="en-US" smtClean="0"/>
              <a:t>5/26/21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CD129-7557-B444-B568-61560CD9DD5C}" type="datetime1">
              <a:rPr lang="en-US" smtClean="0"/>
              <a:t>5/26/21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39D9A-A631-0740-B223-D33F1B896E5E}" type="datetime1">
              <a:rPr lang="en-US" smtClean="0"/>
              <a:t>5/26/21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01A98-0C8A-CB40-B5F5-77624F242ABF}" type="datetime1">
              <a:rPr lang="en-US" smtClean="0"/>
              <a:t>5/26/21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7CAFCAE7-3405-BB42-B572-262056C3E9EE}" type="datetime1">
              <a:rPr lang="en-US" smtClean="0"/>
              <a:t>5/26/21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28" name="Rectangle 70">
            <a:extLst>
              <a:ext uri="{FF2B5EF4-FFF2-40B4-BE49-F238E27FC236}">
                <a16:creationId xmlns:a16="http://schemas.microsoft.com/office/drawing/2014/main" id="{66C7A97A-A7DE-4DFB-8542-1E4BF24C7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9" name="Rectangle 72">
            <a:extLst>
              <a:ext uri="{FF2B5EF4-FFF2-40B4-BE49-F238E27FC236}">
                <a16:creationId xmlns:a16="http://schemas.microsoft.com/office/drawing/2014/main" id="{BE111DB0-3D73-4D20-9D57-CEF5A0D86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761999"/>
            <a:ext cx="4642228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679B2D-2B09-B14F-82A1-F8998992B3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7" y="1298448"/>
            <a:ext cx="3685070" cy="3255264"/>
          </a:xfrm>
        </p:spPr>
        <p:txBody>
          <a:bodyPr>
            <a:normAutofit/>
          </a:bodyPr>
          <a:lstStyle/>
          <a:p>
            <a:r>
              <a:rPr lang="en-US" sz="5400" dirty="0"/>
              <a:t>Bringing Big Data to Big Mountain Resort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7B2B18-465F-5543-86CA-B6A7258DE1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3467" y="4670246"/>
            <a:ext cx="3685070" cy="914400"/>
          </a:xfrm>
        </p:spPr>
        <p:txBody>
          <a:bodyPr>
            <a:normAutofit/>
          </a:bodyPr>
          <a:lstStyle/>
          <a:p>
            <a:r>
              <a:rPr lang="en-US" dirty="0"/>
              <a:t>Ka Hung Lee</a:t>
            </a:r>
          </a:p>
        </p:txBody>
      </p:sp>
      <p:pic>
        <p:nvPicPr>
          <p:cNvPr id="1026" name="Picture 2" descr="Courtesy Whitefish Mountain Resort">
            <a:extLst>
              <a:ext uri="{FF2B5EF4-FFF2-40B4-BE49-F238E27FC236}">
                <a16:creationId xmlns:a16="http://schemas.microsoft.com/office/drawing/2014/main" id="{E45FCFF0-B9AE-DC44-9311-3824973763F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88" r="15088" b="-1"/>
          <a:stretch/>
        </p:blipFill>
        <p:spPr bwMode="auto">
          <a:xfrm>
            <a:off x="5120640" y="759599"/>
            <a:ext cx="6367271" cy="5330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5" name="Rectangle 74">
            <a:extLst>
              <a:ext uri="{FF2B5EF4-FFF2-40B4-BE49-F238E27FC236}">
                <a16:creationId xmlns:a16="http://schemas.microsoft.com/office/drawing/2014/main" id="{027ADCA0-A066-4B16-8E1F-3C2483947B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05DE9A-EEA8-4B45-BFB0-6A2106450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44302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0" name="Rectangle 40">
            <a:extLst>
              <a:ext uri="{FF2B5EF4-FFF2-40B4-BE49-F238E27FC236}">
                <a16:creationId xmlns:a16="http://schemas.microsoft.com/office/drawing/2014/main" id="{6B086509-1281-468A-AAAC-1BBEDAE75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42">
            <a:extLst>
              <a:ext uri="{FF2B5EF4-FFF2-40B4-BE49-F238E27FC236}">
                <a16:creationId xmlns:a16="http://schemas.microsoft.com/office/drawing/2014/main" id="{EEA73850-2107-4E65-85FE-EDD3F45FCD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762000"/>
            <a:ext cx="4053525" cy="533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ED3FB7-3DC9-E14C-A56D-7F9A3BC50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19" y="1123837"/>
            <a:ext cx="3616348" cy="1322637"/>
          </a:xfrm>
        </p:spPr>
        <p:txBody>
          <a:bodyPr>
            <a:normAutofit/>
          </a:bodyPr>
          <a:lstStyle/>
          <a:p>
            <a:r>
              <a:rPr lang="en-US" sz="2800" dirty="0"/>
              <a:t>Missing Profits?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F2CB2-E22C-8F41-960D-CDFD99822A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920" y="2597864"/>
            <a:ext cx="3616348" cy="3386883"/>
          </a:xfrm>
        </p:spPr>
        <p:txBody>
          <a:bodyPr anchor="t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Despite its generous accommodations and facilities, the resort’s existing strategy relies on national averages for ticket prices</a:t>
            </a:r>
          </a:p>
          <a:p>
            <a:endParaRPr lang="en-US" dirty="0">
              <a:solidFill>
                <a:srgbClr val="FFFFFF"/>
              </a:solidFill>
            </a:endParaRPr>
          </a:p>
          <a:p>
            <a:r>
              <a:rPr lang="en-US" dirty="0">
                <a:solidFill>
                  <a:srgbClr val="FFFFFF"/>
                </a:solidFill>
              </a:rPr>
              <a:t>Leadership desires a data-driven approach for new ticket prices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3B4641B-328F-794C-9B46-3D61FB0366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5393" y="1499310"/>
            <a:ext cx="4031329" cy="219710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750542E-CC7F-9B4B-ACE7-A559BABB08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5393" y="3696417"/>
            <a:ext cx="3998340" cy="219710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2EC367-2102-3148-B0C7-6CEB4315C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34135" y="6356350"/>
            <a:ext cx="1530927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4FAB73BC-B049-4115-A692-8D63A059BFB8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FF48097-DDA6-7944-B447-D8B9891F85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6722" y="3696416"/>
            <a:ext cx="3998340" cy="2197108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A8DF4BF5-9E17-274F-A6C8-01C084AFB0CE}"/>
              </a:ext>
            </a:extLst>
          </p:cNvPr>
          <p:cNvSpPr txBox="1"/>
          <p:nvPr/>
        </p:nvSpPr>
        <p:spPr>
          <a:xfrm>
            <a:off x="10033229" y="4238564"/>
            <a:ext cx="18966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But above average ticket prices??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4B448A1-6993-D34F-8177-98CCA88033F3}"/>
              </a:ext>
            </a:extLst>
          </p:cNvPr>
          <p:cNvSpPr txBox="1"/>
          <p:nvPr/>
        </p:nvSpPr>
        <p:spPr>
          <a:xfrm>
            <a:off x="4986685" y="965196"/>
            <a:ext cx="63600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Big Mountain Resort has some of the </a:t>
            </a:r>
            <a:r>
              <a:rPr lang="en-US" b="1" u="sng" dirty="0"/>
              <a:t>best</a:t>
            </a:r>
            <a:r>
              <a:rPr lang="en-US" dirty="0"/>
              <a:t> features in the market!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F1DEAA5-357D-574C-A800-480E2FC44584}"/>
              </a:ext>
            </a:extLst>
          </p:cNvPr>
          <p:cNvSpPr txBox="1"/>
          <p:nvPr/>
        </p:nvSpPr>
        <p:spPr>
          <a:xfrm>
            <a:off x="5681475" y="2197028"/>
            <a:ext cx="1144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105 trails!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9978DD6-D82C-FE43-8A8E-458BCAD53F29}"/>
              </a:ext>
            </a:extLst>
          </p:cNvPr>
          <p:cNvSpPr txBox="1"/>
          <p:nvPr/>
        </p:nvSpPr>
        <p:spPr>
          <a:xfrm>
            <a:off x="5556471" y="4238565"/>
            <a:ext cx="20031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b="1" dirty="0"/>
              <a:t>600 acres of guarentee snow</a:t>
            </a:r>
            <a:r>
              <a:rPr lang="en-US" b="1" dirty="0"/>
              <a:t>!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36D5D1C5-0E8C-2E47-9AA2-5184308AC4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3733" y="1499309"/>
            <a:ext cx="3998341" cy="2197108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3779361C-7AD3-8546-9FA0-343318D52232}"/>
              </a:ext>
            </a:extLst>
          </p:cNvPr>
          <p:cNvSpPr txBox="1"/>
          <p:nvPr/>
        </p:nvSpPr>
        <p:spPr>
          <a:xfrm>
            <a:off x="10441264" y="2058528"/>
            <a:ext cx="14886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b="1" dirty="0"/>
              <a:t>2353</a:t>
            </a:r>
            <a:r>
              <a:rPr lang="en-US" b="1" dirty="0"/>
              <a:t> feet vertical drop!</a:t>
            </a:r>
          </a:p>
        </p:txBody>
      </p:sp>
    </p:spTree>
    <p:extLst>
      <p:ext uri="{BB962C8B-B14F-4D97-AF65-F5344CB8AC3E}">
        <p14:creationId xmlns:p14="http://schemas.microsoft.com/office/powerpoint/2010/main" val="32004968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B9DE1-F8AF-244A-A2AF-57F81E208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</p:spPr>
        <p:txBody>
          <a:bodyPr>
            <a:normAutofit/>
          </a:bodyPr>
          <a:lstStyle/>
          <a:p>
            <a:r>
              <a:rPr lang="en-US" sz="2800" dirty="0"/>
              <a:t>Potential Scenarios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AF3A01-9938-9B40-875E-D76CEC51B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34135" y="6356350"/>
            <a:ext cx="1530927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4FAB73BC-B049-4115-A692-8D63A059BFB8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FEC8CA19-D1B6-4EE2-B097-AA463207BC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55284197"/>
              </p:ext>
            </p:extLst>
          </p:nvPr>
        </p:nvGraphicFramePr>
        <p:xfrm>
          <a:off x="3759896" y="885459"/>
          <a:ext cx="7728267" cy="50873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93181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AEB55-0A37-6748-8CB1-5C033C6E1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Recommendations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7B53DA-BFF7-BD43-9EBE-BE4D14741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</a:t>
            </a:fld>
            <a:endParaRPr lang="en-US" dirty="0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156CE4E7-DFF8-FB4D-8879-48B426F98D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45467003"/>
              </p:ext>
            </p:extLst>
          </p:nvPr>
        </p:nvGraphicFramePr>
        <p:xfrm>
          <a:off x="3759896" y="885459"/>
          <a:ext cx="7728267" cy="50873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56671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6F8E5-F9C1-A346-B13A-5F71ABB1F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Notable Trends in our Data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8AE43F-6FFA-E84F-894C-7693ED62C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1781A8-3FE7-8940-BB9E-8E48C17768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2197" y="0"/>
            <a:ext cx="7128815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32CAD4C-4BC9-4F42-8F71-3321319E9FC3}"/>
              </a:ext>
            </a:extLst>
          </p:cNvPr>
          <p:cNvSpPr/>
          <p:nvPr/>
        </p:nvSpPr>
        <p:spPr>
          <a:xfrm>
            <a:off x="4082197" y="-17313"/>
            <a:ext cx="1719513" cy="4883603"/>
          </a:xfrm>
          <a:prstGeom prst="rect">
            <a:avLst/>
          </a:prstGeom>
          <a:solidFill>
            <a:schemeClr val="tx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B07B22F-21E4-3044-A2B8-F5A1BDBB9B82}"/>
              </a:ext>
            </a:extLst>
          </p:cNvPr>
          <p:cNvSpPr/>
          <p:nvPr/>
        </p:nvSpPr>
        <p:spPr>
          <a:xfrm>
            <a:off x="4082197" y="5879458"/>
            <a:ext cx="7128815" cy="995855"/>
          </a:xfrm>
          <a:prstGeom prst="rect">
            <a:avLst/>
          </a:prstGeom>
          <a:solidFill>
            <a:schemeClr val="tx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B04F142-5468-3946-9A09-B971725D8508}"/>
              </a:ext>
            </a:extLst>
          </p:cNvPr>
          <p:cNvSpPr/>
          <p:nvPr/>
        </p:nvSpPr>
        <p:spPr>
          <a:xfrm>
            <a:off x="9491499" y="3922373"/>
            <a:ext cx="1719513" cy="1957085"/>
          </a:xfrm>
          <a:prstGeom prst="rect">
            <a:avLst/>
          </a:prstGeom>
          <a:solidFill>
            <a:schemeClr val="tx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981C1A4-0639-C041-A313-FBC6ED6B1831}"/>
              </a:ext>
            </a:extLst>
          </p:cNvPr>
          <p:cNvSpPr/>
          <p:nvPr/>
        </p:nvSpPr>
        <p:spPr>
          <a:xfrm>
            <a:off x="5801710" y="3922373"/>
            <a:ext cx="3689789" cy="1957084"/>
          </a:xfrm>
          <a:prstGeom prst="rect">
            <a:avLst/>
          </a:prstGeom>
          <a:solidFill>
            <a:schemeClr val="tx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C37A6BF-F9E4-BF44-9C68-7B931F4A66FE}"/>
              </a:ext>
            </a:extLst>
          </p:cNvPr>
          <p:cNvSpPr/>
          <p:nvPr/>
        </p:nvSpPr>
        <p:spPr>
          <a:xfrm>
            <a:off x="7645209" y="2943831"/>
            <a:ext cx="1847686" cy="978541"/>
          </a:xfrm>
          <a:prstGeom prst="rect">
            <a:avLst/>
          </a:prstGeom>
          <a:solidFill>
            <a:schemeClr val="tx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13BD09F-EFEE-FF44-98FD-DB4BF158DDCE}"/>
              </a:ext>
            </a:extLst>
          </p:cNvPr>
          <p:cNvSpPr/>
          <p:nvPr/>
        </p:nvSpPr>
        <p:spPr>
          <a:xfrm>
            <a:off x="5801710" y="1922459"/>
            <a:ext cx="1842103" cy="1021372"/>
          </a:xfrm>
          <a:prstGeom prst="rect">
            <a:avLst/>
          </a:prstGeom>
          <a:solidFill>
            <a:schemeClr val="tx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D5B60B7-C2EB-DC47-A5D9-1F8EB65D47E4}"/>
              </a:ext>
            </a:extLst>
          </p:cNvPr>
          <p:cNvSpPr/>
          <p:nvPr/>
        </p:nvSpPr>
        <p:spPr>
          <a:xfrm>
            <a:off x="7643813" y="-17314"/>
            <a:ext cx="3567199" cy="1947977"/>
          </a:xfrm>
          <a:prstGeom prst="rect">
            <a:avLst/>
          </a:prstGeom>
          <a:solidFill>
            <a:schemeClr val="tx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F4BFF69-2EA9-3148-ABD3-792C0596E29E}"/>
              </a:ext>
            </a:extLst>
          </p:cNvPr>
          <p:cNvSpPr/>
          <p:nvPr/>
        </p:nvSpPr>
        <p:spPr>
          <a:xfrm>
            <a:off x="4079405" y="-17313"/>
            <a:ext cx="7128815" cy="68826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48020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E0F96-3551-C94B-A910-9BCE214FD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Price Model: Random Forest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49EC33-478F-E240-98B9-D3D2671E0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B00E70-3D11-4540-9F27-6C297D3BB0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9098" y="265112"/>
            <a:ext cx="7810500" cy="62738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2547288-9312-1641-A056-0A10C0C8ED53}"/>
              </a:ext>
            </a:extLst>
          </p:cNvPr>
          <p:cNvSpPr/>
          <p:nvPr/>
        </p:nvSpPr>
        <p:spPr>
          <a:xfrm>
            <a:off x="4236334" y="544010"/>
            <a:ext cx="1346182" cy="47340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70D03C-C474-8740-AD8E-09FC99F7CFFA}"/>
              </a:ext>
            </a:extLst>
          </p:cNvPr>
          <p:cNvSpPr txBox="1"/>
          <p:nvPr/>
        </p:nvSpPr>
        <p:spPr>
          <a:xfrm>
            <a:off x="5746096" y="800671"/>
            <a:ext cx="28589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Notable trends are weighed heavily in our model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E112B0-F73F-B14D-8015-78E13592CD5A}"/>
              </a:ext>
            </a:extLst>
          </p:cNvPr>
          <p:cNvSpPr txBox="1"/>
          <p:nvPr/>
        </p:nvSpPr>
        <p:spPr>
          <a:xfrm>
            <a:off x="5746096" y="1924684"/>
            <a:ext cx="508780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Current Ticket Price for Big Mountain Resort: $81.00</a:t>
            </a:r>
          </a:p>
          <a:p>
            <a:pPr algn="r"/>
            <a:r>
              <a:rPr lang="en-US" dirty="0"/>
              <a:t>Model’s Predicted Price: $95.87</a:t>
            </a:r>
          </a:p>
          <a:p>
            <a:pPr algn="r"/>
            <a:r>
              <a:rPr lang="en-US" dirty="0"/>
              <a:t>Model’s Mean Absolute Error: $10.39</a:t>
            </a:r>
          </a:p>
          <a:p>
            <a:pPr algn="r"/>
            <a:endParaRPr lang="en-US" dirty="0"/>
          </a:p>
          <a:p>
            <a:pPr algn="r"/>
            <a:r>
              <a:rPr lang="en-US" dirty="0"/>
              <a:t>Model’s Predicted Price with Max Error: $85.48</a:t>
            </a:r>
          </a:p>
          <a:p>
            <a:pPr algn="r"/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existing price is undervalued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551403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2DB30-FB73-B546-A264-E5787B6A4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Model got enough data? Yes!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3A9EF4-D5E8-084B-9BBF-C1053C7AB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F994EF-2725-9A46-8322-BD4AEB5A6D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1907" y="1309878"/>
            <a:ext cx="7950200" cy="422910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4571519-18C2-5545-867E-27F620539B79}"/>
              </a:ext>
            </a:extLst>
          </p:cNvPr>
          <p:cNvCxnSpPr/>
          <p:nvPr/>
        </p:nvCxnSpPr>
        <p:spPr>
          <a:xfrm flipV="1">
            <a:off x="4317357" y="1863524"/>
            <a:ext cx="7164729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E9B72C0-1D60-6B4A-9D20-8EFB1117F42F}"/>
              </a:ext>
            </a:extLst>
          </p:cNvPr>
          <p:cNvSpPr txBox="1"/>
          <p:nvPr/>
        </p:nvSpPr>
        <p:spPr>
          <a:xfrm>
            <a:off x="5625297" y="2232505"/>
            <a:ext cx="51880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 notable improvement beyond a sample size of 60</a:t>
            </a:r>
          </a:p>
        </p:txBody>
      </p:sp>
    </p:spTree>
    <p:extLst>
      <p:ext uri="{BB962C8B-B14F-4D97-AF65-F5344CB8AC3E}">
        <p14:creationId xmlns:p14="http://schemas.microsoft.com/office/powerpoint/2010/main" val="36025971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BD2AD-E16B-B34D-B147-314465F71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Model Results: Best Cases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31944E-C23D-5843-B405-B1C97C11A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8</a:t>
            </a:fld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99C7CD6-160A-1B4D-BE9B-261503748E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62893586"/>
              </p:ext>
            </p:extLst>
          </p:nvPr>
        </p:nvGraphicFramePr>
        <p:xfrm>
          <a:off x="3759896" y="885459"/>
          <a:ext cx="7728267" cy="50873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105276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5DB23C2B-2054-4D8B-9E98-9190F8E05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797B5BC-9873-45F9-97D6-298FB5AF08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762000"/>
            <a:ext cx="4208489" cy="5334001"/>
          </a:xfrm>
          <a:custGeom>
            <a:avLst/>
            <a:gdLst>
              <a:gd name="connsiteX0" fmla="*/ 1015642 w 4208489"/>
              <a:gd name="connsiteY0" fmla="*/ 0 h 5334001"/>
              <a:gd name="connsiteX1" fmla="*/ 4208489 w 4208489"/>
              <a:gd name="connsiteY1" fmla="*/ 0 h 5334001"/>
              <a:gd name="connsiteX2" fmla="*/ 4208489 w 4208489"/>
              <a:gd name="connsiteY2" fmla="*/ 5334001 h 5334001"/>
              <a:gd name="connsiteX3" fmla="*/ 0 w 4208489"/>
              <a:gd name="connsiteY3" fmla="*/ 5334001 h 5334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8489" h="5334001">
                <a:moveTo>
                  <a:pt x="1015642" y="0"/>
                </a:moveTo>
                <a:lnTo>
                  <a:pt x="4208489" y="0"/>
                </a:lnTo>
                <a:lnTo>
                  <a:pt x="4208489" y="5334001"/>
                </a:lnTo>
                <a:lnTo>
                  <a:pt x="0" y="533400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C66FEF-3BDB-9449-95AA-53B354BFE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260" y="1683144"/>
            <a:ext cx="2774922" cy="34917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Summary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E21458-CCB6-1D4E-9E29-9899CA2F4C42}"/>
              </a:ext>
            </a:extLst>
          </p:cNvPr>
          <p:cNvSpPr txBox="1"/>
          <p:nvPr/>
        </p:nvSpPr>
        <p:spPr>
          <a:xfrm>
            <a:off x="4361606" y="1683143"/>
            <a:ext cx="6627377" cy="34917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Wingdings 2" pitchFamily="18" charset="2"/>
              <a:buChar char="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Based on our model, </a:t>
            </a:r>
            <a:r>
              <a:rPr lang="en-US" b="1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 current ticket price is undervalued</a:t>
            </a:r>
          </a:p>
          <a:p>
            <a:pPr marL="285750"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Wingdings 2" pitchFamily="18" charset="2"/>
              <a:buChar char="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 model suggests Scenario 2 as the most profitable of 4 options the leadership team were considering</a:t>
            </a:r>
          </a:p>
          <a:p>
            <a:pPr marL="742950" lvl="1"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Wingdings 2" pitchFamily="18" charset="2"/>
              <a:buChar char="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This scenario should include an increased ticket price of $82.99</a:t>
            </a:r>
          </a:p>
          <a:p>
            <a:pPr marL="742950" lvl="1"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Wingdings 2" pitchFamily="18" charset="2"/>
              <a:buChar char=""/>
            </a:pPr>
            <a:endParaRPr lang="en-US" b="1" u="sng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Wingdings 2" pitchFamily="18" charset="2"/>
              <a:buChar char="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However, leadership team could consider to use the model’s original predicted price of $95.87 (or $85.48 when they consider the amount of error in the model) without any changes to the resort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665C2FCD-09A4-4B4B-AA73-F330DFE91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1190517" y="1056875"/>
            <a:ext cx="1001483" cy="4744251"/>
          </a:xfrm>
          <a:custGeom>
            <a:avLst/>
            <a:gdLst>
              <a:gd name="connsiteX0" fmla="*/ 0 w 1001483"/>
              <a:gd name="connsiteY0" fmla="*/ 0 h 4744251"/>
              <a:gd name="connsiteX1" fmla="*/ 1001483 w 1001483"/>
              <a:gd name="connsiteY1" fmla="*/ 0 h 4744251"/>
              <a:gd name="connsiteX2" fmla="*/ 0 w 1001483"/>
              <a:gd name="connsiteY2" fmla="*/ 4744251 h 4744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01483" h="4744251">
                <a:moveTo>
                  <a:pt x="0" y="0"/>
                </a:moveTo>
                <a:lnTo>
                  <a:pt x="1001483" y="0"/>
                </a:lnTo>
                <a:lnTo>
                  <a:pt x="0" y="474425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41845A-A3EB-7C42-8F1F-C26672E31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34135" y="6356350"/>
            <a:ext cx="153092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4FAB73BC-B049-4115-A692-8D63A059BFB8}" type="slidenum">
              <a:rPr lang="en-US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</a:pPr>
              <a:t>9</a:t>
            </a:fld>
            <a:endParaRPr lang="en-US" b="1" kern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0636333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Frame</Template>
  <TotalTime>166</TotalTime>
  <Words>489</Words>
  <Application>Microsoft Macintosh PowerPoint</Application>
  <PresentationFormat>Widescreen</PresentationFormat>
  <Paragraphs>52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Corbel</vt:lpstr>
      <vt:lpstr>Wingdings 2</vt:lpstr>
      <vt:lpstr>Frame</vt:lpstr>
      <vt:lpstr>Bringing Big Data to Big Mountain Resort</vt:lpstr>
      <vt:lpstr>Missing Profits?</vt:lpstr>
      <vt:lpstr>Potential Scenarios</vt:lpstr>
      <vt:lpstr>Recommendations</vt:lpstr>
      <vt:lpstr>Notable Trends in our Data</vt:lpstr>
      <vt:lpstr>Price Model: Random Forest</vt:lpstr>
      <vt:lpstr>Model got enough data? Yes!</vt:lpstr>
      <vt:lpstr>Model Results: Best Cases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Bringing Big Data to Big Mountain Resort</dc:title>
  <dc:creator>Lee, Ka Hung</dc:creator>
  <cp:lastModifiedBy>Lee, Ka Hung</cp:lastModifiedBy>
  <cp:revision>17</cp:revision>
  <dcterms:created xsi:type="dcterms:W3CDTF">2021-05-26T22:40:35Z</dcterms:created>
  <dcterms:modified xsi:type="dcterms:W3CDTF">2021-05-27T01:26:54Z</dcterms:modified>
</cp:coreProperties>
</file>